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9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8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ejin2003/DeepLearningLab-pet-eye-disease-prediction" TargetMode="External"/><Relationship Id="rId2" Type="http://schemas.openxmlformats.org/officeDocument/2006/relationships/hyperlink" Target="https://yejin2003-pet-eye-disease-prediction.hf.spac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딥러닝실습  기말 프로젝트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 기반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 안구 질환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의심 예측 시스템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33375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AIHub 안구질환 이미지 × EfficientNet-B0 전이학습 기반 Django 웹 서비스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840480"/>
            <a:ext cx="1234440" cy="320040"/>
          </a:xfrm>
          <a:prstGeom prst="rect">
            <a:avLst/>
          </a:prstGeom>
          <a:solidFill>
            <a:srgbClr val="E2F5F7"/>
          </a:solidFill>
          <a:ln w="12700">
            <a:solidFill>
              <a:srgbClr val="C8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38404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3840480"/>
            <a:ext cx="1234440" cy="320040"/>
          </a:xfrm>
          <a:prstGeom prst="rect">
            <a:avLst/>
          </a:prstGeom>
          <a:solidFill>
            <a:srgbClr val="E2F5F7"/>
          </a:solidFill>
          <a:ln w="12700">
            <a:solidFill>
              <a:srgbClr val="C8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28800" y="38404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3840480"/>
            <a:ext cx="1234440" cy="320040"/>
          </a:xfrm>
          <a:prstGeom prst="rect">
            <a:avLst/>
          </a:prstGeom>
          <a:solidFill>
            <a:srgbClr val="E2F5F7"/>
          </a:solidFill>
          <a:ln w="12700">
            <a:solidFill>
              <a:srgbClr val="C8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154680" y="38404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3840480"/>
            <a:ext cx="1234440" cy="320040"/>
          </a:xfrm>
          <a:prstGeom prst="rect">
            <a:avLst/>
          </a:prstGeom>
          <a:solidFill>
            <a:srgbClr val="E2F5F7"/>
          </a:solidFill>
          <a:ln w="12700">
            <a:solidFill>
              <a:srgbClr val="C8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480560" y="38404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AIHub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24013778  김예진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274320"/>
            <a:ext cx="2560320" cy="2560320"/>
          </a:xfrm>
          <a:prstGeom prst="ellipse">
            <a:avLst/>
          </a:prstGeom>
          <a:solidFill>
            <a:srgbClr val="E2F5F7"/>
          </a:solidFill>
          <a:ln w="12700">
            <a:solidFill>
              <a:srgbClr val="C8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315200" y="1737360"/>
            <a:ext cx="1371600" cy="1371600"/>
          </a:xfrm>
          <a:prstGeom prst="ellipse">
            <a:avLst/>
          </a:prstGeom>
          <a:solidFill>
            <a:srgbClr val="14828B">
              <a:alpha val="35000"/>
            </a:srgbClr>
          </a:solidFill>
          <a:ln w="12700">
            <a:solidFill>
              <a:srgbClr val="1482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프로젝트 필요성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31920" cy="393192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09728" cy="393192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상황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반려동물은 눈 통증·시야 이상을 말로 표현 불가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결막염·백내장·각막질환은 육안 구분이 어려움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치료 시기를 놓치면 증상이 급격히 악화됨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지식 없이 조기 발견은 사실상 불가능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777240"/>
            <a:ext cx="4206240" cy="393192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0" y="777240"/>
            <a:ext cx="109728" cy="3931920"/>
          </a:xfrm>
          <a:prstGeom prst="rect">
            <a:avLst/>
          </a:prstGeom>
          <a:solidFill>
            <a:srgbClr val="14828B"/>
          </a:solidFill>
          <a:ln w="12700">
            <a:solidFill>
              <a:srgbClr val="1482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5488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해결책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1325880"/>
            <a:ext cx="2560320" cy="100584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715000" y="135331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 안구질환 유병률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평생 경험 확률 30 – 60%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42316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 이미지 1장으로 즉시 질환 후보 3개 제시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가능성 높은 질환의 설명·예방법 자동 제공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수의학 진단을 대체하지 않는 보조 판단 도구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설치 없이 웹 브라우저에서 즉시 사용 가능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데이터셋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651760" cy="137160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651760" cy="347472"/>
          </a:xfrm>
          <a:prstGeom prst="rect">
            <a:avLst/>
          </a:prstGeom>
          <a:solidFill>
            <a:srgbClr val="14828B"/>
          </a:solidFill>
          <a:ln w="12700">
            <a:solidFill>
              <a:srgbClr val="1482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출처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AIHub 공공 오픈데이터셋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 안구 질환 데이터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2651760" cy="137160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651760" cy="347472"/>
          </a:xfrm>
          <a:prstGeom prst="rect">
            <a:avLst/>
          </a:prstGeom>
          <a:solidFill>
            <a:srgbClr val="14828B"/>
          </a:solidFill>
          <a:ln w="12700">
            <a:solidFill>
              <a:srgbClr val="1482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00400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유형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17043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 이미지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JSON 라벨 (바운딩박스)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777240"/>
            <a:ext cx="2651760" cy="137160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035040" y="777240"/>
            <a:ext cx="2651760" cy="347472"/>
          </a:xfrm>
          <a:prstGeom prst="rect">
            <a:avLst/>
          </a:prstGeom>
          <a:solidFill>
            <a:srgbClr val="14828B"/>
          </a:solidFill>
          <a:ln w="12700">
            <a:solidFill>
              <a:srgbClr val="1482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35040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라벨링 기준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117043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수의사 진단 기반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라벨링 &amp; 교차 검증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286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분할 구성 (다중분류 CSV: 총 25,113개)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4754880" cy="21031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샘플 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17,574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394960" y="2743200"/>
            <a:ext cx="3383280" cy="2103120"/>
          </a:xfrm>
          <a:prstGeom prst="rect">
            <a:avLst/>
          </a:prstGeom>
          <a:solidFill>
            <a:srgbClr val="E2F5F7"/>
          </a:solidFill>
          <a:ln w="12700">
            <a:solidFill>
              <a:srgbClr val="C8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48640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URL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0" y="3246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aihub.or.kr/</a:t>
            </a:r>
            <a:r>
              <a:rPr lang="en-US" sz="1050" dirty="0" err="1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aihubdata</a:t>
            </a:r>
            <a:r>
              <a:rPr lang="en-US" sz="1050" dirty="0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/data/</a:t>
            </a:r>
            <a:endParaRPr lang="en-US" sz="1050" dirty="0"/>
          </a:p>
          <a:p>
            <a:pPr marL="0" indent="0">
              <a:buNone/>
            </a:pPr>
            <a:r>
              <a:rPr lang="en-US" sz="1050" dirty="0" err="1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view.do?dataSetSn</a:t>
            </a:r>
            <a:r>
              <a:rPr lang="en-US" sz="1050" dirty="0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=562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0" y="3813048"/>
            <a:ext cx="3200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</a:t>
            </a:r>
            <a:r>
              <a:rPr lang="ko-KR" altLang="ko-KR" sz="1050" dirty="0" err="1">
                <a:solidFill>
                  <a:schemeClr val="accent5">
                    <a:lumMod val="75000"/>
                  </a:schemeClr>
                </a:solidFill>
              </a:rPr>
              <a:t>AIHub</a:t>
            </a:r>
            <a:r>
              <a:rPr lang="ko-KR" altLang="ko-KR" sz="1050" dirty="0">
                <a:solidFill>
                  <a:schemeClr val="accent5">
                    <a:lumMod val="75000"/>
                  </a:schemeClr>
                </a:solidFill>
              </a:rPr>
              <a:t> 데이터셋 전체가 아닌 153.반려동물 안구질환 데이터 &gt; 01.데이터 &gt; 2.Validation &gt; 원천데이터(</a:t>
            </a:r>
            <a:r>
              <a:rPr lang="ko-KR" altLang="ko-KR" sz="1050" dirty="0" err="1">
                <a:solidFill>
                  <a:schemeClr val="accent5">
                    <a:lumMod val="75000"/>
                  </a:schemeClr>
                </a:solidFill>
              </a:rPr>
              <a:t>VS.zip</a:t>
            </a:r>
            <a:r>
              <a:rPr lang="ko-KR" altLang="ko-KR" sz="1050" dirty="0">
                <a:solidFill>
                  <a:schemeClr val="accent5">
                    <a:lumMod val="75000"/>
                  </a:schemeClr>
                </a:solidFill>
              </a:rPr>
              <a:t>)만 학습 및 평가에 사용함.</a:t>
            </a:r>
            <a:endParaRPr lang="en-US" sz="1050" dirty="0">
              <a:solidFill>
                <a:schemeClr val="accent5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지원 질환과 클래스 구성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11개 클래스 (정상 1개 + 질환 10개) 다중분류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645920" cy="640080"/>
          </a:xfrm>
          <a:prstGeom prst="rect">
            <a:avLst/>
          </a:prstGeom>
          <a:solidFill>
            <a:srgbClr val="14828B"/>
          </a:solidFill>
          <a:ln w="12700">
            <a:solidFill>
              <a:srgbClr val="14828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1609344" cy="658368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73152" cy="6583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2057400"/>
            <a:ext cx="1472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결막염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66544" y="2057400"/>
            <a:ext cx="1609344" cy="658368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066544" y="2057400"/>
            <a:ext cx="73152" cy="6583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176272" y="2057400"/>
            <a:ext cx="1472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안검염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67328" y="2057400"/>
            <a:ext cx="1609344" cy="658368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767328" y="2057400"/>
            <a:ext cx="73152" cy="6583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877056" y="2057400"/>
            <a:ext cx="1472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유루증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68112" y="2057400"/>
            <a:ext cx="1609344" cy="658368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468112" y="2057400"/>
            <a:ext cx="73152" cy="6583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77840" y="2057400"/>
            <a:ext cx="1472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핵경화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68896" y="2057400"/>
            <a:ext cx="1609344" cy="658368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168896" y="2057400"/>
            <a:ext cx="73152" cy="6583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278624" y="2057400"/>
            <a:ext cx="1472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백내장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953512"/>
            <a:ext cx="1609344" cy="658368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2953512"/>
            <a:ext cx="73152" cy="6583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2953512"/>
            <a:ext cx="1472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궤양성 각막질환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66544" y="2953512"/>
            <a:ext cx="1609344" cy="658368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066544" y="2953512"/>
            <a:ext cx="73152" cy="6583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176272" y="2953512"/>
            <a:ext cx="1472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비궤양성 각막질환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767328" y="2953512"/>
            <a:ext cx="1609344" cy="658368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767328" y="2953512"/>
            <a:ext cx="73152" cy="6583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877056" y="2953512"/>
            <a:ext cx="1472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색소침착성 각막염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68112" y="2953512"/>
            <a:ext cx="1609344" cy="658368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468112" y="2953512"/>
            <a:ext cx="73152" cy="6583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577840" y="2953512"/>
            <a:ext cx="1472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안검내반증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68896" y="2953512"/>
            <a:ext cx="1609344" cy="658368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7168896" y="2953512"/>
            <a:ext cx="73152" cy="6583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278624" y="2953512"/>
            <a:ext cx="1472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안검종양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질환별 이진 분류 모델(10개)과 정상+10질환 다중분류 모델(1개)을 모두 학습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시스템 구조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508760"/>
            <a:ext cx="1554480" cy="123444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눈 사진 입력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47088" y="19659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84248" y="1508760"/>
            <a:ext cx="1554480" cy="123444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984248" y="1554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84248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해상도·선명도 확인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57016" y="19659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94176" y="1508760"/>
            <a:ext cx="1554480" cy="123444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694176" y="1554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94176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66944" y="19659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04104" y="1508760"/>
            <a:ext cx="1554480" cy="1234440"/>
          </a:xfrm>
          <a:prstGeom prst="rect">
            <a:avLst/>
          </a:prstGeom>
          <a:solidFill>
            <a:srgbClr val="14828B"/>
          </a:solidFill>
          <a:ln w="12700">
            <a:solidFill>
              <a:srgbClr val="0D5C6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04104" y="1554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-B0 추론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04104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76872" y="196596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14032" y="1508760"/>
            <a:ext cx="1554480" cy="123444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114032" y="1554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14032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3질환 + 설명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4114800" cy="182880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6576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상세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41071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Resize: 224 × 224 (EfficientNet-B0 입력 규격)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학습: 좌우 반전, 회전 ±10°, 밝기/대비 Augmentation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추론: ImageNet 평균/표준편차 Normalize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4114800" cy="182880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84632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점검 항목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41071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해상도: 최소 224px 이상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 영역: 동공·각막 어두운 영역 존재 여부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노출: 과도한 밝기/어두움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선명도: 블러 정도 측정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모델 설계 — EfficientNet-B0 전이학습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solidFill>
            <a:srgbClr val="E2F5F7"/>
          </a:solidFill>
          <a:ln w="12700">
            <a:solidFill>
              <a:srgbClr val="C8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AIHub 제공 TensorFlow/Keras 기반 EfficientNetB0 예시 코드의 설계 원리를 PyTorch로 재구현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4572000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 weights (전이학습)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 크기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× 224 RGB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CrossEntropyLoss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 클래스 확률 (11클래스)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 저장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검증 성능 최고 시점 best.pt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212080" y="1371600"/>
            <a:ext cx="3566160" cy="150876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303520" y="1417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증강 (학습)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0" y="18288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 반전 (RandomHorizontalFlip)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회전 (±10°)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밝기 / 대비 랜덤 조정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12080" y="3017520"/>
            <a:ext cx="3566160" cy="155448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303520" y="3063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모델 구성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03520" y="34747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 분류 모델 × 10개 (질환별 개별 학습)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다중분류 모델 × 1개 (정상 + 10질환)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최종 질환 순위: 다중분류 모델 사용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핵심 개선 — 이진 분류 → 다중분류 전환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31920" cy="3566160"/>
          </a:xfrm>
          <a:prstGeom prst="rect">
            <a:avLst/>
          </a:prstGeom>
          <a:solidFill>
            <a:srgbClr val="FFF4F1"/>
          </a:solidFill>
          <a:ln w="12700">
            <a:solidFill>
              <a:srgbClr val="FFBCA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931920" cy="41148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방식  (이진 분류 10개)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질환 10개 각각에 이진 분류 모델을 학습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모델의 positive 확률을 비교해 상위 질환 선택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이진 모델들은 서로 독립적으로 동작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여러 질환에 동시에 높은 확률 부여 가능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사례: 궤양성 각막질환 이미지 업로드 시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백내장이 1순위로 잘못 출력됨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24528" y="2286000"/>
            <a:ext cx="694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24528" y="2926080"/>
            <a:ext cx="694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777240"/>
            <a:ext cx="3931920" cy="3566160"/>
          </a:xfrm>
          <a:prstGeom prst="rect">
            <a:avLst/>
          </a:prstGeom>
          <a:solidFill>
            <a:srgbClr val="EAF8F9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846320" y="777240"/>
            <a:ext cx="3931920" cy="411480"/>
          </a:xfrm>
          <a:prstGeom prst="rect">
            <a:avLst/>
          </a:prstGeom>
          <a:solidFill>
            <a:srgbClr val="14828B"/>
          </a:solidFill>
          <a:ln w="12700">
            <a:solidFill>
              <a:srgbClr val="1482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892040" y="777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방식  (다중분류 1개)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261872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+ 10질환을 동시 비교하는 단일 모델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Softmax로 11클래스 확률 합계 = 1.0 보장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질환 간 상대 비교로 순위가 안정적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이미지: 궤양성 각막질환 1순위로 개선됨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웹 서비스의 최종 질환 순위에 이 모델 사용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462272"/>
            <a:ext cx="8412480" cy="438912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44622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테스트 중 발견한 문제를 직접 분석·해결한 과정 — 기술난이도와 완성도 평가의 핵심 근거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웹 구현 결과 — Django 기반 애플리케이션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474720" cy="402336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기능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2918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업로드 및 즉시 미리보기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품질 점검 결과 표시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/ 질환 의심 상태 판정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3개 질환 후보와 확률 표시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 확률 질환 설명 자동 제공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예방법 및 관리 방법 안내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/api/predict/ REST API 제공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822960"/>
            <a:ext cx="4663440" cy="114300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114800" y="822960"/>
            <a:ext cx="91440" cy="1143000"/>
          </a:xfrm>
          <a:prstGeom prst="rect">
            <a:avLst/>
          </a:prstGeom>
          <a:solidFill>
            <a:srgbClr val="14828B"/>
          </a:solidFill>
          <a:ln w="12700">
            <a:solidFill>
              <a:srgbClr val="1482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79392" y="85039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79392" y="118872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2103120"/>
            <a:ext cx="4663440" cy="114300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114800" y="2103120"/>
            <a:ext cx="91440" cy="1143000"/>
          </a:xfrm>
          <a:prstGeom prst="rect">
            <a:avLst/>
          </a:prstGeom>
          <a:solidFill>
            <a:srgbClr val="14828B"/>
          </a:solidFill>
          <a:ln w="12700">
            <a:solidFill>
              <a:srgbClr val="1482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279392" y="213055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추론 엔진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79392" y="246888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EfficientNet-B0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3383280"/>
            <a:ext cx="4663440" cy="114300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114800" y="3383280"/>
            <a:ext cx="91440" cy="1143000"/>
          </a:xfrm>
          <a:prstGeom prst="rect">
            <a:avLst/>
          </a:prstGeom>
          <a:solidFill>
            <a:srgbClr val="14828B"/>
          </a:solidFill>
          <a:ln w="12700">
            <a:solidFill>
              <a:srgbClr val="1482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279392" y="341071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8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79392" y="374904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/api/predict/  (multipart/form-data)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0" y="4663440"/>
            <a:ext cx="4663440" cy="347472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114800" y="466344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manage.py runserver 127.0.0.1:8000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성능 평가 — F1 Score (질환별 이진 모델)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75488"/>
          </a:xfrm>
          <a:prstGeom prst="rect">
            <a:avLst/>
          </a:prstGeom>
          <a:solidFill>
            <a:srgbClr val="14828B"/>
          </a:solidFill>
          <a:ln w="12700">
            <a:solidFill>
              <a:srgbClr val="1482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지원 질환에서 계획서 목표 F1 Score 0.8 이상 달성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337565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4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질환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결막염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82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안검염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82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유루증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82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핵경화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82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백내장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82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궤양성 각막질환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82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비궤양성 각막질환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82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색소침착성 각막염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82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안검내반증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82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안검종양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D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82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8006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이 성능은 질환별 양/음성 구분 기준임. 웹 서비스의 최종 질환 순위는 다중분류 모델(11클래스)을 사용함.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한계와 향후 개선 방향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31920" cy="283464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931920" cy="38404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한계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 사진은 조명·초점·털 가림 등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변수가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많아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확률이 불안정할 수 있음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수의학 진단에는 병력, 안압·세극등 검사 등 추가 임상 정보 필요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데이터와 다른 촬영 조건에서 성능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저하</a:t>
            </a: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2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3931920" cy="283464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46320" y="777240"/>
            <a:ext cx="3931920" cy="384048"/>
          </a:xfrm>
          <a:prstGeom prst="rect">
            <a:avLst/>
          </a:prstGeom>
          <a:solidFill>
            <a:srgbClr val="14828B"/>
          </a:solidFill>
          <a:ln w="12700">
            <a:solidFill>
              <a:srgbClr val="1482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92040" y="7772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개선 방향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6048" y="1216152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 영역 자동 검출 (Segmentation 모델 추가)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시각화로 설명 가능한 AI 구현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불균형 보정 및 혼동 행렬 분석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환경 UX 개선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처리 → 모델 학습 → 오류 발견·개선 → 웹 서비스 배포까지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Full-Stack 딥러닝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프로젝트를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배포 링크 &amp; 소스 코드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93192" y="1403252"/>
            <a:ext cx="3931920" cy="283464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93192" y="1403252"/>
            <a:ext cx="3931920" cy="38404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38912" y="14032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서비스 배포 (Hugging Face Space)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842164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1600"/>
              </a:spcBef>
              <a:buNone/>
            </a:pPr>
            <a:r>
              <a:rPr lang="en-US" sz="1300" b="1" u="sng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yejin2003-pet-eye-disease-prediction.hf.space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18888" y="1403252"/>
            <a:ext cx="3931920" cy="2834640"/>
          </a:xfrm>
          <a:prstGeom prst="rect">
            <a:avLst/>
          </a:prstGeom>
          <a:solidFill>
            <a:srgbClr val="F7FAFB"/>
          </a:solidFill>
          <a:ln w="12700">
            <a:solidFill>
              <a:srgbClr val="C8E6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18888" y="1403252"/>
            <a:ext cx="3931920" cy="384048"/>
          </a:xfrm>
          <a:prstGeom prst="rect">
            <a:avLst/>
          </a:prstGeom>
          <a:solidFill>
            <a:srgbClr val="14828B"/>
          </a:solidFill>
          <a:ln w="12700">
            <a:solidFill>
              <a:srgbClr val="1482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64608" y="14032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저장소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28616" y="1842164"/>
            <a:ext cx="3749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1600"/>
              </a:spcBef>
              <a:buNone/>
            </a:pPr>
            <a:r>
              <a:rPr lang="en-US" sz="1300" b="1" u="sng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github.com/yejin2003/DeepLearningLab-pet-eye-disease-prediction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931</Words>
  <Application>Microsoft Office PowerPoint</Application>
  <PresentationFormat>화면 슬라이드 쇼(16:9)</PresentationFormat>
  <Paragraphs>240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딥러닝 기반 반려동물 안구 질환 의심 예측 시스템</dc:title>
  <dc:subject>PptxGenJS Presentation</dc:subject>
  <dc:creator>24013778 김예진</dc:creator>
  <cp:lastModifiedBy>김 예진</cp:lastModifiedBy>
  <cp:revision>5</cp:revision>
  <dcterms:created xsi:type="dcterms:W3CDTF">2026-06-05T06:31:19Z</dcterms:created>
  <dcterms:modified xsi:type="dcterms:W3CDTF">2026-06-19T15:40:56Z</dcterms:modified>
</cp:coreProperties>
</file>